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1C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26400" y="1127125"/>
            <a:ext cx="6426200" cy="2444750"/>
          </a:xfrm>
          <a:prstGeom prst="ellipse">
            <a:avLst/>
          </a:prstGeom>
          <a:noFill/>
          <a:ln w="19050">
            <a:solidFill>
              <a:srgbClr val="00D8FF">
                <a:alpha val="7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3600000">
            <a:off x="8026400" y="1127125"/>
            <a:ext cx="6426200" cy="2444750"/>
          </a:xfrm>
          <a:prstGeom prst="ellipse">
            <a:avLst/>
          </a:prstGeom>
          <a:noFill/>
          <a:ln w="19050">
            <a:solidFill>
              <a:srgbClr val="00D8FF">
                <a:alpha val="7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7200000">
            <a:off x="8026400" y="1127125"/>
            <a:ext cx="6426200" cy="2444750"/>
          </a:xfrm>
          <a:prstGeom prst="ellipse">
            <a:avLst/>
          </a:prstGeom>
          <a:noFill/>
          <a:ln w="19050">
            <a:solidFill>
              <a:srgbClr val="00D8FF">
                <a:alpha val="7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810500" y="1568450"/>
            <a:ext cx="3556000" cy="4108450"/>
          </a:xfrm>
          <a:custGeom>
            <a:avLst/>
            <a:gdLst/>
            <a:ahLst/>
            <a:cxnLst/>
            <a:rect l="l" t="t" r="r" b="b"/>
            <a:pathLst>
              <a:path w="3556000" h="4108450">
                <a:moveTo>
                  <a:pt x="1778000" y="0"/>
                </a:moveTo>
                <a:lnTo>
                  <a:pt x="3556000" y="1027112"/>
                </a:lnTo>
                <a:lnTo>
                  <a:pt x="3556000" y="3081337"/>
                </a:lnTo>
                <a:lnTo>
                  <a:pt x="1778000" y="4108450"/>
                </a:lnTo>
                <a:lnTo>
                  <a:pt x="0" y="3081337"/>
                </a:lnTo>
                <a:lnTo>
                  <a:pt x="0" y="1027112"/>
                </a:lnTo>
                <a:close/>
              </a:path>
            </a:pathLst>
          </a:custGeom>
          <a:noFill/>
          <a:ln w="25400">
            <a:solidFill>
              <a:srgbClr val="232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iny-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0" y="1714500"/>
            <a:ext cx="3302000" cy="38128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5875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spc="375">
                <a:solidFill>
                  <a:srgbClr val="6FD4E8"/>
                </a:solidFill>
                <a:latin typeface="Inter Bold"/>
              </a:rPr>
              <a:t>POSIT::CONF(2026)</a:t>
            </a:r>
          </a:p>
        </p:txBody>
      </p:sp>
      <p:sp>
        <p:nvSpPr>
          <p:cNvPr id="8" name="TextBox 7"/>
          <p:cNvSpPr/>
          <p:nvPr>
            <p:ph type="title"/>
          </p:nvPr>
        </p:nvSpPr>
        <p:spPr>
          <a:xfrm>
            <a:off x="609600" y="1943100"/>
            <a:ext cx="6985000" cy="17780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lnSpc>
                <a:spcPct val="98000"/>
              </a:lnSpc>
              <a:buNone/>
              <a:defRPr sz="6400">
                <a:solidFill>
                  <a:srgbClr val="F2F4F8"/>
                </a:solidFill>
                <a:latin typeface="Inter ExtraBold"/>
              </a:defRPr>
            </a:lvl1pPr>
          </a:lstStyle>
          <a:p>
            <a:pPr algn="l" marL="0" indent="0">
              <a:lnSpc>
                <a:spcPct val="98000"/>
              </a:lnSpc>
              <a:buNone/>
            </a:pPr>
            <a:r>
              <a:rPr sz="6400">
                <a:solidFill>
                  <a:srgbClr val="F2F4F8"/>
                </a:solidFill>
                <a:latin typeface="Inter ExtraBold"/>
              </a:rPr>
              <a:t>Title</a:t>
            </a:r>
          </a:p>
        </p:txBody>
      </p:sp>
      <p:sp>
        <p:nvSpPr>
          <p:cNvPr id="9" name="Freeform 8"/>
          <p:cNvSpPr/>
          <p:nvPr/>
        </p:nvSpPr>
        <p:spPr>
          <a:xfrm>
            <a:off x="635000" y="3853207"/>
            <a:ext cx="3251200" cy="147293"/>
          </a:xfrm>
          <a:custGeom>
            <a:avLst/>
            <a:gdLst/>
            <a:ahLst/>
            <a:cxnLst/>
            <a:rect l="l" t="t" r="r" b="b"/>
            <a:pathLst>
              <a:path w="3251200" h="147293">
                <a:moveTo>
                  <a:pt x="0" y="147293"/>
                </a:moveTo>
                <a:lnTo>
                  <a:pt x="58304" y="136411"/>
                </a:lnTo>
                <a:lnTo>
                  <a:pt x="117316" y="125987"/>
                </a:lnTo>
                <a:lnTo>
                  <a:pt x="177015" y="116017"/>
                </a:lnTo>
                <a:lnTo>
                  <a:pt x="237382" y="106495"/>
                </a:lnTo>
                <a:lnTo>
                  <a:pt x="298397" y="97417"/>
                </a:lnTo>
                <a:lnTo>
                  <a:pt x="360040" y="88778"/>
                </a:lnTo>
                <a:lnTo>
                  <a:pt x="422290" y="80573"/>
                </a:lnTo>
                <a:lnTo>
                  <a:pt x="485128" y="72798"/>
                </a:lnTo>
                <a:lnTo>
                  <a:pt x="548533" y="65446"/>
                </a:lnTo>
                <a:lnTo>
                  <a:pt x="612487" y="58515"/>
                </a:lnTo>
                <a:lnTo>
                  <a:pt x="676968" y="51998"/>
                </a:lnTo>
                <a:lnTo>
                  <a:pt x="741957" y="45891"/>
                </a:lnTo>
                <a:lnTo>
                  <a:pt x="807434" y="40189"/>
                </a:lnTo>
                <a:lnTo>
                  <a:pt x="873379" y="34888"/>
                </a:lnTo>
                <a:lnTo>
                  <a:pt x="939772" y="29982"/>
                </a:lnTo>
                <a:lnTo>
                  <a:pt x="1006592" y="25467"/>
                </a:lnTo>
                <a:lnTo>
                  <a:pt x="1073820" y="21337"/>
                </a:lnTo>
                <a:lnTo>
                  <a:pt x="1141437" y="17589"/>
                </a:lnTo>
                <a:lnTo>
                  <a:pt x="1209421" y="14217"/>
                </a:lnTo>
                <a:lnTo>
                  <a:pt x="1277753" y="11216"/>
                </a:lnTo>
                <a:lnTo>
                  <a:pt x="1346413" y="8582"/>
                </a:lnTo>
                <a:lnTo>
                  <a:pt x="1415382" y="6309"/>
                </a:lnTo>
                <a:lnTo>
                  <a:pt x="1484638" y="4393"/>
                </a:lnTo>
                <a:lnTo>
                  <a:pt x="1554162" y="2830"/>
                </a:lnTo>
                <a:lnTo>
                  <a:pt x="1623934" y="1614"/>
                </a:lnTo>
                <a:lnTo>
                  <a:pt x="1693935" y="740"/>
                </a:lnTo>
                <a:lnTo>
                  <a:pt x="1764143" y="204"/>
                </a:lnTo>
                <a:lnTo>
                  <a:pt x="1834539" y="0"/>
                </a:lnTo>
                <a:lnTo>
                  <a:pt x="1905104" y="125"/>
                </a:lnTo>
                <a:lnTo>
                  <a:pt x="1975817" y="573"/>
                </a:lnTo>
                <a:lnTo>
                  <a:pt x="2046658" y="1339"/>
                </a:lnTo>
                <a:lnTo>
                  <a:pt x="2117607" y="2418"/>
                </a:lnTo>
                <a:lnTo>
                  <a:pt x="2188644" y="3807"/>
                </a:lnTo>
                <a:lnTo>
                  <a:pt x="2259750" y="5499"/>
                </a:lnTo>
                <a:lnTo>
                  <a:pt x="2330903" y="7490"/>
                </a:lnTo>
                <a:lnTo>
                  <a:pt x="2402085" y="9775"/>
                </a:lnTo>
                <a:lnTo>
                  <a:pt x="2473276" y="12350"/>
                </a:lnTo>
                <a:lnTo>
                  <a:pt x="2544454" y="15209"/>
                </a:lnTo>
                <a:lnTo>
                  <a:pt x="2615601" y="18348"/>
                </a:lnTo>
                <a:lnTo>
                  <a:pt x="2686696" y="21762"/>
                </a:lnTo>
                <a:lnTo>
                  <a:pt x="2757720" y="25446"/>
                </a:lnTo>
                <a:lnTo>
                  <a:pt x="2828652" y="29396"/>
                </a:lnTo>
                <a:lnTo>
                  <a:pt x="2899472" y="33606"/>
                </a:lnTo>
                <a:lnTo>
                  <a:pt x="2970161" y="38071"/>
                </a:lnTo>
                <a:lnTo>
                  <a:pt x="3040698" y="42787"/>
                </a:lnTo>
                <a:lnTo>
                  <a:pt x="3111063" y="47749"/>
                </a:lnTo>
                <a:lnTo>
                  <a:pt x="3181237" y="52953"/>
                </a:lnTo>
                <a:lnTo>
                  <a:pt x="3251200" y="58393"/>
                </a:lnTo>
              </a:path>
            </a:pathLst>
          </a:custGeom>
          <a:noFill/>
          <a:ln w="50800" cap="rnd">
            <a:solidFill>
              <a:srgbClr val="0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1"/>
          </p:nvPr>
        </p:nvSpPr>
        <p:spPr>
          <a:xfrm>
            <a:off x="609600" y="4356100"/>
            <a:ext cx="6985000" cy="10160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lnSpc>
                <a:spcPct val="135000"/>
              </a:lnSpc>
              <a:buNone/>
              <a:defRPr sz="2300">
                <a:solidFill>
                  <a:srgbClr val="A3ACBB"/>
                </a:solidFill>
                <a:latin typeface="Inter"/>
              </a:defRPr>
            </a:lvl1pPr>
          </a:lstStyle>
          <a:p>
            <a:pPr algn="l" marL="0" indent="0">
              <a:lnSpc>
                <a:spcPct val="135000"/>
              </a:lnSpc>
              <a:buNone/>
            </a:pPr>
            <a:r>
              <a:rPr sz="2300">
                <a:solidFill>
                  <a:srgbClr val="A3ACBB"/>
                </a:solidFill>
                <a:latin typeface="Inter"/>
              </a:rPr>
              <a:t>Subtitle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969000"/>
            <a:ext cx="2540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>
                <a:solidFill>
                  <a:srgbClr val="F2F4F8"/>
                </a:solidFill>
                <a:latin typeface="Inter ExtraBold"/>
              </a:rPr>
              <a:t>posit</a:t>
            </a:r>
          </a:p>
          <a:p>
            <a:pPr algn="l"/>
            <a:r>
              <a:rPr sz="1300">
                <a:solidFill>
                  <a:srgbClr val="A3ACBB"/>
                </a:solidFill>
                <a:latin typeface="Inter Medium"/>
              </a:rPr>
              <a:t>conf (2026)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6600" y="5829300"/>
            <a:ext cx="838200" cy="8382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06600" y="6146800"/>
            <a:ext cx="838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1C1D22"/>
                </a:solidFill>
                <a:latin typeface="Inter Bold"/>
              </a:rPr>
              <a:t>QR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0" y="5829300"/>
            <a:ext cx="4445000" cy="88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5000"/>
              </a:lnSpc>
            </a:pPr>
            <a:r>
              <a:rPr sz="1500">
                <a:solidFill>
                  <a:srgbClr val="A3ACBB"/>
                </a:solidFill>
                <a:latin typeface="Inter"/>
              </a:rPr>
              <a:t>Barret Schloerke</a:t>
            </a:r>
          </a:p>
          <a:p>
            <a:pPr algn="r">
              <a:lnSpc>
                <a:spcPct val="145000"/>
              </a:lnSpc>
            </a:pPr>
            <a:r>
              <a:rPr sz="1500">
                <a:solidFill>
                  <a:srgbClr val="A3ACBB"/>
                </a:solidFill>
                <a:latin typeface="Inter"/>
              </a:rPr>
              <a:t>posit / Shiny Team</a:t>
            </a:r>
          </a:p>
          <a:p>
            <a:pPr algn="r">
              <a:lnSpc>
                <a:spcPct val="145000"/>
              </a:lnSpc>
            </a:pPr>
            <a:r>
              <a:rPr sz="1500">
                <a:solidFill>
                  <a:srgbClr val="A3ACBB"/>
                </a:solidFill>
                <a:latin typeface="Inter"/>
              </a:rPr>
              <a:t>@schloerke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714500" y="1762125"/>
            <a:ext cx="8763000" cy="3333750"/>
          </a:xfrm>
          <a:prstGeom prst="ellipse">
            <a:avLst/>
          </a:prstGeom>
          <a:noFill/>
          <a:ln w="19050">
            <a:solidFill>
              <a:srgbClr val="00D8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3600000">
            <a:off x="1714500" y="1762125"/>
            <a:ext cx="8763000" cy="3333750"/>
          </a:xfrm>
          <a:prstGeom prst="ellipse">
            <a:avLst/>
          </a:prstGeom>
          <a:noFill/>
          <a:ln w="19050">
            <a:solidFill>
              <a:srgbClr val="00D8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7200000">
            <a:off x="1714500" y="1762125"/>
            <a:ext cx="8763000" cy="3333750"/>
          </a:xfrm>
          <a:prstGeom prst="ellipse">
            <a:avLst/>
          </a:prstGeom>
          <a:noFill/>
          <a:ln w="19050">
            <a:solidFill>
              <a:srgbClr val="00D8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609600" y="2540000"/>
            <a:ext cx="3810000" cy="13970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buNone/>
              <a:defRPr sz="12000">
                <a:solidFill>
                  <a:srgbClr val="00D8FF">
                    <a:alpha val="22000"/>
                  </a:srgbClr>
                </a:solidFill>
                <a:latin typeface="Inter Black"/>
              </a:defRPr>
            </a:lvl1pPr>
          </a:lstStyle>
          <a:p>
            <a:pPr algn="l" marL="0" indent="0">
              <a:buNone/>
            </a:pPr>
            <a:r>
              <a:rPr sz="12000">
                <a:solidFill>
                  <a:srgbClr val="00D8FF">
                    <a:alpha val="22000"/>
                  </a:srgbClr>
                </a:solidFill>
                <a:latin typeface="Inter Black"/>
              </a:rPr>
              <a:t>02</a:t>
            </a:r>
          </a:p>
        </p:txBody>
      </p:sp>
      <p:sp>
        <p:nvSpPr>
          <p:cNvPr id="6" name="TextBox 5"/>
          <p:cNvSpPr/>
          <p:nvPr>
            <p:ph type="title"/>
          </p:nvPr>
        </p:nvSpPr>
        <p:spPr>
          <a:xfrm>
            <a:off x="609600" y="4038600"/>
            <a:ext cx="8890000" cy="8255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buNone/>
              <a:defRPr sz="4800">
                <a:solidFill>
                  <a:srgbClr val="F2F4F8"/>
                </a:solidFill>
                <a:latin typeface="Inter ExtraBold"/>
              </a:defRPr>
            </a:lvl1pPr>
          </a:lstStyle>
          <a:p>
            <a:pPr algn="l" marL="0" indent="0">
              <a:buNone/>
            </a:pPr>
            <a:r>
              <a:rPr sz="4800">
                <a:solidFill>
                  <a:srgbClr val="F2F4F8"/>
                </a:solidFill>
                <a:latin typeface="Inter ExtraBold"/>
              </a:rPr>
              <a:t>Section</a:t>
            </a:r>
          </a:p>
        </p:txBody>
      </p:sp>
      <p:sp>
        <p:nvSpPr>
          <p:cNvPr id="7" name="Freeform 6"/>
          <p:cNvSpPr/>
          <p:nvPr/>
        </p:nvSpPr>
        <p:spPr>
          <a:xfrm>
            <a:off x="640861" y="5100940"/>
            <a:ext cx="4001477" cy="181283"/>
          </a:xfrm>
          <a:custGeom>
            <a:avLst/>
            <a:gdLst/>
            <a:ahLst/>
            <a:cxnLst/>
            <a:rect l="l" t="t" r="r" b="b"/>
            <a:pathLst>
              <a:path w="4001477" h="181283">
                <a:moveTo>
                  <a:pt x="0" y="181283"/>
                </a:moveTo>
                <a:lnTo>
                  <a:pt x="71759" y="167890"/>
                </a:lnTo>
                <a:lnTo>
                  <a:pt x="144389" y="155061"/>
                </a:lnTo>
                <a:lnTo>
                  <a:pt x="217865" y="142790"/>
                </a:lnTo>
                <a:lnTo>
                  <a:pt x="292163" y="131071"/>
                </a:lnTo>
                <a:lnTo>
                  <a:pt x="367259" y="119898"/>
                </a:lnTo>
                <a:lnTo>
                  <a:pt x="443126" y="109265"/>
                </a:lnTo>
                <a:lnTo>
                  <a:pt x="519742" y="99167"/>
                </a:lnTo>
                <a:lnTo>
                  <a:pt x="597081" y="89597"/>
                </a:lnTo>
                <a:lnTo>
                  <a:pt x="675119" y="80549"/>
                </a:lnTo>
                <a:lnTo>
                  <a:pt x="753831" y="72018"/>
                </a:lnTo>
                <a:lnTo>
                  <a:pt x="833192" y="63997"/>
                </a:lnTo>
                <a:lnTo>
                  <a:pt x="913179" y="56481"/>
                </a:lnTo>
                <a:lnTo>
                  <a:pt x="993766" y="49463"/>
                </a:lnTo>
                <a:lnTo>
                  <a:pt x="1074929" y="42938"/>
                </a:lnTo>
                <a:lnTo>
                  <a:pt x="1156643" y="36900"/>
                </a:lnTo>
                <a:lnTo>
                  <a:pt x="1238883" y="31343"/>
                </a:lnTo>
                <a:lnTo>
                  <a:pt x="1321626" y="26261"/>
                </a:lnTo>
                <a:lnTo>
                  <a:pt x="1404846" y="21647"/>
                </a:lnTo>
                <a:lnTo>
                  <a:pt x="1488519" y="17497"/>
                </a:lnTo>
                <a:lnTo>
                  <a:pt x="1572620" y="13804"/>
                </a:lnTo>
                <a:lnTo>
                  <a:pt x="1657125" y="10561"/>
                </a:lnTo>
                <a:lnTo>
                  <a:pt x="1742009" y="7765"/>
                </a:lnTo>
                <a:lnTo>
                  <a:pt x="1827247" y="5407"/>
                </a:lnTo>
                <a:lnTo>
                  <a:pt x="1912815" y="3483"/>
                </a:lnTo>
                <a:lnTo>
                  <a:pt x="1998689" y="1986"/>
                </a:lnTo>
                <a:lnTo>
                  <a:pt x="2084843" y="910"/>
                </a:lnTo>
                <a:lnTo>
                  <a:pt x="2171254" y="250"/>
                </a:lnTo>
                <a:lnTo>
                  <a:pt x="2257895" y="0"/>
                </a:lnTo>
                <a:lnTo>
                  <a:pt x="2344744" y="153"/>
                </a:lnTo>
                <a:lnTo>
                  <a:pt x="2431775" y="704"/>
                </a:lnTo>
                <a:lnTo>
                  <a:pt x="2518964" y="1647"/>
                </a:lnTo>
                <a:lnTo>
                  <a:pt x="2606286" y="2976"/>
                </a:lnTo>
                <a:lnTo>
                  <a:pt x="2693717" y="4685"/>
                </a:lnTo>
                <a:lnTo>
                  <a:pt x="2781231" y="6767"/>
                </a:lnTo>
                <a:lnTo>
                  <a:pt x="2868805" y="9218"/>
                </a:lnTo>
                <a:lnTo>
                  <a:pt x="2956414" y="12031"/>
                </a:lnTo>
                <a:lnTo>
                  <a:pt x="3044032" y="15200"/>
                </a:lnTo>
                <a:lnTo>
                  <a:pt x="3131637" y="18719"/>
                </a:lnTo>
                <a:lnTo>
                  <a:pt x="3219202" y="22582"/>
                </a:lnTo>
                <a:lnTo>
                  <a:pt x="3306704" y="26784"/>
                </a:lnTo>
                <a:lnTo>
                  <a:pt x="3394117" y="31318"/>
                </a:lnTo>
                <a:lnTo>
                  <a:pt x="3481418" y="36179"/>
                </a:lnTo>
                <a:lnTo>
                  <a:pt x="3568581" y="41360"/>
                </a:lnTo>
                <a:lnTo>
                  <a:pt x="3655583" y="46856"/>
                </a:lnTo>
                <a:lnTo>
                  <a:pt x="3742398" y="52661"/>
                </a:lnTo>
                <a:lnTo>
                  <a:pt x="3829001" y="58768"/>
                </a:lnTo>
                <a:lnTo>
                  <a:pt x="3915369" y="65172"/>
                </a:lnTo>
                <a:lnTo>
                  <a:pt x="4001477" y="71867"/>
                </a:lnTo>
              </a:path>
            </a:pathLst>
          </a:custGeom>
          <a:noFill/>
          <a:ln w="50800" cap="rnd">
            <a:solidFill>
              <a:srgbClr val="0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ontent">
    <p:bg>
      <p:bgPr>
        <a:solidFill>
          <a:srgbClr val="1C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/>
          <p:nvPr>
            <p:ph type="title"/>
          </p:nvPr>
        </p:nvSpPr>
        <p:spPr>
          <a:xfrm>
            <a:off x="609600" y="1117600"/>
            <a:ext cx="9525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buNone/>
              <a:defRPr sz="4200">
                <a:solidFill>
                  <a:srgbClr val="F2F4F8"/>
                </a:solidFill>
                <a:latin typeface="Inter ExtraBold"/>
              </a:defRPr>
            </a:lvl1pPr>
          </a:lstStyle>
          <a:p>
            <a:pPr algn="l" marL="0" indent="0">
              <a:buNone/>
            </a:pPr>
            <a:r>
              <a:rPr sz="4200">
                <a:solidFill>
                  <a:srgbClr val="F2F4F8"/>
                </a:solidFill>
                <a:latin typeface="Inter ExtraBold"/>
              </a:rPr>
              <a:t>Title</a:t>
            </a:r>
          </a:p>
        </p:txBody>
      </p:sp>
      <p:sp>
        <p:nvSpPr>
          <p:cNvPr id="3" name="Freeform 2"/>
          <p:cNvSpPr/>
          <p:nvPr/>
        </p:nvSpPr>
        <p:spPr>
          <a:xfrm>
            <a:off x="631092" y="2090052"/>
            <a:ext cx="2751015" cy="124632"/>
          </a:xfrm>
          <a:custGeom>
            <a:avLst/>
            <a:gdLst/>
            <a:ahLst/>
            <a:cxnLst/>
            <a:rect l="l" t="t" r="r" b="b"/>
            <a:pathLst>
              <a:path w="2751015" h="124632">
                <a:moveTo>
                  <a:pt x="0" y="124632"/>
                </a:moveTo>
                <a:lnTo>
                  <a:pt x="49334" y="115424"/>
                </a:lnTo>
                <a:lnTo>
                  <a:pt x="99267" y="106604"/>
                </a:lnTo>
                <a:lnTo>
                  <a:pt x="149782" y="98168"/>
                </a:lnTo>
                <a:lnTo>
                  <a:pt x="200862" y="90111"/>
                </a:lnTo>
                <a:lnTo>
                  <a:pt x="252490" y="82430"/>
                </a:lnTo>
                <a:lnTo>
                  <a:pt x="304649" y="75120"/>
                </a:lnTo>
                <a:lnTo>
                  <a:pt x="357322" y="68177"/>
                </a:lnTo>
                <a:lnTo>
                  <a:pt x="410493" y="61598"/>
                </a:lnTo>
                <a:lnTo>
                  <a:pt x="464144" y="55378"/>
                </a:lnTo>
                <a:lnTo>
                  <a:pt x="518258" y="49512"/>
                </a:lnTo>
                <a:lnTo>
                  <a:pt x="572820" y="43998"/>
                </a:lnTo>
                <a:lnTo>
                  <a:pt x="627810" y="38831"/>
                </a:lnTo>
                <a:lnTo>
                  <a:pt x="683214" y="34006"/>
                </a:lnTo>
                <a:lnTo>
                  <a:pt x="739013" y="29520"/>
                </a:lnTo>
                <a:lnTo>
                  <a:pt x="795192" y="25369"/>
                </a:lnTo>
                <a:lnTo>
                  <a:pt x="851732" y="21549"/>
                </a:lnTo>
                <a:lnTo>
                  <a:pt x="908618" y="18055"/>
                </a:lnTo>
                <a:lnTo>
                  <a:pt x="965831" y="14883"/>
                </a:lnTo>
                <a:lnTo>
                  <a:pt x="1023357" y="12029"/>
                </a:lnTo>
                <a:lnTo>
                  <a:pt x="1081176" y="9490"/>
                </a:lnTo>
                <a:lnTo>
                  <a:pt x="1139273" y="7261"/>
                </a:lnTo>
                <a:lnTo>
                  <a:pt x="1197631" y="5338"/>
                </a:lnTo>
                <a:lnTo>
                  <a:pt x="1256232" y="3718"/>
                </a:lnTo>
                <a:lnTo>
                  <a:pt x="1315060" y="2395"/>
                </a:lnTo>
                <a:lnTo>
                  <a:pt x="1374098" y="1365"/>
                </a:lnTo>
                <a:lnTo>
                  <a:pt x="1433329" y="626"/>
                </a:lnTo>
                <a:lnTo>
                  <a:pt x="1492737" y="172"/>
                </a:lnTo>
                <a:lnTo>
                  <a:pt x="1552303" y="0"/>
                </a:lnTo>
                <a:lnTo>
                  <a:pt x="1612011" y="106"/>
                </a:lnTo>
                <a:lnTo>
                  <a:pt x="1671845" y="485"/>
                </a:lnTo>
                <a:lnTo>
                  <a:pt x="1731788" y="1133"/>
                </a:lnTo>
                <a:lnTo>
                  <a:pt x="1791821" y="2046"/>
                </a:lnTo>
                <a:lnTo>
                  <a:pt x="1851930" y="3221"/>
                </a:lnTo>
                <a:lnTo>
                  <a:pt x="1912096" y="4653"/>
                </a:lnTo>
                <a:lnTo>
                  <a:pt x="1972303" y="6338"/>
                </a:lnTo>
                <a:lnTo>
                  <a:pt x="2032534" y="8271"/>
                </a:lnTo>
                <a:lnTo>
                  <a:pt x="2092772" y="10450"/>
                </a:lnTo>
                <a:lnTo>
                  <a:pt x="2153000" y="12869"/>
                </a:lnTo>
                <a:lnTo>
                  <a:pt x="2213201" y="15526"/>
                </a:lnTo>
                <a:lnTo>
                  <a:pt x="2273359" y="18414"/>
                </a:lnTo>
                <a:lnTo>
                  <a:pt x="2333455" y="21532"/>
                </a:lnTo>
                <a:lnTo>
                  <a:pt x="2393475" y="24873"/>
                </a:lnTo>
                <a:lnTo>
                  <a:pt x="2453400" y="28436"/>
                </a:lnTo>
                <a:lnTo>
                  <a:pt x="2513213" y="32214"/>
                </a:lnTo>
                <a:lnTo>
                  <a:pt x="2572898" y="36205"/>
                </a:lnTo>
                <a:lnTo>
                  <a:pt x="2632438" y="40403"/>
                </a:lnTo>
                <a:lnTo>
                  <a:pt x="2691816" y="44806"/>
                </a:lnTo>
                <a:lnTo>
                  <a:pt x="2751015" y="49409"/>
                </a:lnTo>
              </a:path>
            </a:pathLst>
          </a:custGeom>
          <a:noFill/>
          <a:ln w="50800" cap="rnd">
            <a:solidFill>
              <a:srgbClr val="0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/>
          <p:nvPr>
            <p:ph type="body" idx="1"/>
          </p:nvPr>
        </p:nvSpPr>
        <p:spPr>
          <a:xfrm>
            <a:off x="609600" y="2794000"/>
            <a:ext cx="10972800" cy="26670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330200" indent="-330200">
              <a:lnSpc>
                <a:spcPct val="130000"/>
              </a:lnSpc>
              <a:spcAft>
                <a:spcPts val="2200"/>
              </a:spcAft>
              <a:buClr>
                <a:srgbClr val="00D8FF"/>
              </a:buClr>
              <a:buSzPct val="115000"/>
              <a:buFont typeface="Arial"/>
              <a:buChar char="▍"/>
              <a:defRPr sz="2600">
                <a:solidFill>
                  <a:srgbClr val="F2F4F8"/>
                </a:solidFill>
                <a:latin typeface="Inter Medium"/>
              </a:defRPr>
            </a:lvl1pPr>
          </a:lstStyle>
          <a:p>
            <a:pPr algn="l" marL="330200" indent="-330200">
              <a:lnSpc>
                <a:spcPct val="130000"/>
              </a:lnSpc>
              <a:spcAft>
                <a:spcPts val="2200"/>
              </a:spcAft>
              <a:buClr>
                <a:srgbClr val="00D8FF"/>
              </a:buClr>
              <a:buSzPct val="115000"/>
              <a:buFont typeface="Arial"/>
              <a:buChar char="▍"/>
            </a:pPr>
            <a:r>
              <a:rPr sz="2600">
                <a:solidFill>
                  <a:srgbClr val="F2F4F8"/>
                </a:solidFill>
                <a:latin typeface="Inter Medium"/>
              </a:rPr>
              <a:t>Bullet</a:t>
            </a:r>
          </a:p>
          <a:p>
            <a:pPr algn="l" marL="330200" indent="-330200">
              <a:lnSpc>
                <a:spcPct val="130000"/>
              </a:lnSpc>
              <a:spcAft>
                <a:spcPts val="2200"/>
              </a:spcAft>
              <a:buClr>
                <a:srgbClr val="00D8FF"/>
              </a:buClr>
              <a:buSzPct val="115000"/>
              <a:buFont typeface="Arial"/>
              <a:buChar char="▍"/>
            </a:pPr>
            <a:r>
              <a:rPr sz="2600">
                <a:solidFill>
                  <a:srgbClr val="F2F4F8"/>
                </a:solidFill>
                <a:latin typeface="Inter Medium"/>
              </a:rPr>
              <a:t>Bullet</a:t>
            </a:r>
          </a:p>
          <a:p>
            <a:pPr algn="l" marL="330200" indent="-330200">
              <a:lnSpc>
                <a:spcPct val="130000"/>
              </a:lnSpc>
              <a:spcAft>
                <a:spcPts val="2200"/>
              </a:spcAft>
              <a:buClr>
                <a:srgbClr val="00D8FF"/>
              </a:buClr>
              <a:buSzPct val="115000"/>
              <a:buFont typeface="Arial"/>
              <a:buChar char="▍"/>
            </a:pPr>
            <a:r>
              <a:rPr sz="2600">
                <a:solidFill>
                  <a:srgbClr val="F2F4F8"/>
                </a:solidFill>
                <a:latin typeface="Inter Medium"/>
              </a:rPr>
              <a:t>Bullet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2611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500">
                <a:solidFill>
                  <a:srgbClr val="A3ACBB"/>
                </a:solidFill>
                <a:latin typeface="Inter"/>
              </a:rPr>
              <a:t>posit::conf(2026) · @schloerke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two-up">
    <p:bg>
      <p:bgPr>
        <a:solidFill>
          <a:srgbClr val="1C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/>
          <p:nvPr>
            <p:ph type="title"/>
          </p:nvPr>
        </p:nvSpPr>
        <p:spPr>
          <a:xfrm>
            <a:off x="609600" y="6096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buNone/>
              <a:defRPr sz="3800">
                <a:solidFill>
                  <a:srgbClr val="F2F4F8"/>
                </a:solidFill>
                <a:latin typeface="Inter ExtraBold"/>
              </a:defRPr>
            </a:lvl1pPr>
          </a:lstStyle>
          <a:p>
            <a:pPr algn="l" marL="0" indent="0">
              <a:buNone/>
            </a:pPr>
            <a:r>
              <a:rPr sz="3800">
                <a:solidFill>
                  <a:srgbClr val="F2F4F8"/>
                </a:solidFill>
                <a:latin typeface="Inter ExtraBold"/>
              </a:rPr>
              <a:t>Title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587500"/>
            <a:ext cx="5334000" cy="4191000"/>
          </a:xfrm>
          <a:prstGeom prst="roundRect">
            <a:avLst>
              <a:gd name="adj" fmla="val 6000"/>
            </a:avLst>
          </a:prstGeom>
          <a:solidFill>
            <a:srgbClr val="141519"/>
          </a:solidFill>
          <a:ln w="12700">
            <a:solidFill>
              <a:srgbClr val="00D8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/>
          <p:nvPr>
            <p:ph type="body" idx="1"/>
          </p:nvPr>
        </p:nvSpPr>
        <p:spPr>
          <a:xfrm>
            <a:off x="889000" y="1841500"/>
            <a:ext cx="4775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buNone/>
              <a:defRPr sz="1400" spc="200">
                <a:solidFill>
                  <a:srgbClr val="6FD4E8"/>
                </a:solidFill>
                <a:latin typeface="Inter Bold"/>
              </a:defRPr>
            </a:lvl1pPr>
          </a:lstStyle>
          <a:p>
            <a:pPr algn="l" marL="0" indent="0">
              <a:buNone/>
            </a:pPr>
            <a:r>
              <a:rPr sz="1400" spc="200">
                <a:solidFill>
                  <a:srgbClr val="6FD4E8"/>
                </a:solidFill>
                <a:latin typeface="Inter Bold"/>
              </a:rPr>
              <a:t>FILE</a:t>
            </a:r>
          </a:p>
        </p:txBody>
      </p:sp>
      <p:sp>
        <p:nvSpPr>
          <p:cNvPr id="5" name="TextBox 4"/>
          <p:cNvSpPr/>
          <p:nvPr>
            <p:ph type="body" idx="2"/>
          </p:nvPr>
        </p:nvSpPr>
        <p:spPr>
          <a:xfrm>
            <a:off x="889000" y="2273300"/>
            <a:ext cx="4775200" cy="32512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lnSpc>
                <a:spcPct val="135000"/>
              </a:lnSpc>
              <a:buNone/>
              <a:defRPr sz="1700">
                <a:solidFill>
                  <a:srgbClr val="F2F4F8"/>
                </a:solidFill>
                <a:latin typeface="Source Code Pro"/>
              </a:defRPr>
            </a:lvl1pPr>
          </a:lstStyle>
          <a:p>
            <a:pPr algn="l" marL="0" indent="0">
              <a:lnSpc>
                <a:spcPct val="135000"/>
              </a:lnSpc>
              <a:buNone/>
            </a:pPr>
            <a:r>
              <a:rPr sz="1700">
                <a:solidFill>
                  <a:srgbClr val="F2F4F8"/>
                </a:solidFill>
                <a:latin typeface="Source Code Pro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1587500"/>
            <a:ext cx="5334000" cy="4191000"/>
          </a:xfrm>
          <a:prstGeom prst="roundRect">
            <a:avLst>
              <a:gd name="adj" fmla="val 6000"/>
            </a:avLst>
          </a:prstGeom>
          <a:solidFill>
            <a:srgbClr val="141519"/>
          </a:solidFill>
          <a:ln w="12700">
            <a:solidFill>
              <a:srgbClr val="00D8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6527800" y="1841500"/>
            <a:ext cx="4775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buNone/>
              <a:defRPr sz="1400" spc="200">
                <a:solidFill>
                  <a:srgbClr val="6FD4E8"/>
                </a:solidFill>
                <a:latin typeface="Inter Bold"/>
              </a:defRPr>
            </a:lvl1pPr>
          </a:lstStyle>
          <a:p>
            <a:pPr algn="l" marL="0" indent="0">
              <a:buNone/>
            </a:pPr>
            <a:r>
              <a:rPr sz="1400" spc="200">
                <a:solidFill>
                  <a:srgbClr val="6FD4E8"/>
                </a:solidFill>
                <a:latin typeface="Inter Bold"/>
              </a:rPr>
              <a:t>FILE</a:t>
            </a:r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6527800" y="2273300"/>
            <a:ext cx="4775200" cy="32512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lnSpc>
                <a:spcPct val="135000"/>
              </a:lnSpc>
              <a:buNone/>
              <a:defRPr sz="1700">
                <a:solidFill>
                  <a:srgbClr val="F2F4F8"/>
                </a:solidFill>
                <a:latin typeface="Source Code Pro"/>
              </a:defRPr>
            </a:lvl1pPr>
          </a:lstStyle>
          <a:p>
            <a:pPr algn="l" marL="0" indent="0">
              <a:lnSpc>
                <a:spcPct val="135000"/>
              </a:lnSpc>
              <a:buNone/>
            </a:pPr>
            <a:r>
              <a:rPr sz="1700">
                <a:solidFill>
                  <a:srgbClr val="F2F4F8"/>
                </a:solidFill>
                <a:latin typeface="Source Code Pro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7400" y="62611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500">
                <a:solidFill>
                  <a:srgbClr val="A3ACBB"/>
                </a:solidFill>
                <a:latin typeface="Inter"/>
              </a:rPr>
              <a:t>posit::conf(2026) · @schloerke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ata">
    <p:bg>
      <p:bgPr>
        <a:solidFill>
          <a:srgbClr val="1C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/>
          <p:nvPr>
            <p:ph type="title"/>
          </p:nvPr>
        </p:nvSpPr>
        <p:spPr>
          <a:xfrm>
            <a:off x="609600" y="609600"/>
            <a:ext cx="9525000" cy="6985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buNone/>
              <a:defRPr sz="3800">
                <a:solidFill>
                  <a:srgbClr val="F2F4F8"/>
                </a:solidFill>
                <a:latin typeface="Inter ExtraBold"/>
              </a:defRPr>
            </a:lvl1pPr>
          </a:lstStyle>
          <a:p>
            <a:pPr algn="l" marL="0" indent="0">
              <a:buNone/>
            </a:pPr>
            <a:r>
              <a:rPr sz="3800">
                <a:solidFill>
                  <a:srgbClr val="F2F4F8"/>
                </a:solidFill>
                <a:latin typeface="Inter ExtraBold"/>
              </a:rPr>
              <a:t>Title</a:t>
            </a:r>
          </a:p>
        </p:txBody>
      </p:sp>
      <p:sp>
        <p:nvSpPr>
          <p:cNvPr id="3" name="TextBox 2"/>
          <p:cNvSpPr/>
          <p:nvPr>
            <p:ph type="body" idx="1"/>
          </p:nvPr>
        </p:nvSpPr>
        <p:spPr>
          <a:xfrm>
            <a:off x="609600" y="14732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>
            <a:lvl1pPr marL="0" indent="0">
              <a:buNone/>
              <a:defRPr sz="1500">
                <a:solidFill>
                  <a:srgbClr val="A3ACBB"/>
                </a:solidFill>
                <a:latin typeface="Inter Medium"/>
              </a:defRPr>
            </a:lvl1pPr>
          </a:lstStyle>
          <a:p>
            <a:pPr algn="l" marL="0" indent="0">
              <a:buNone/>
            </a:pPr>
            <a:r>
              <a:rPr sz="1500">
                <a:solidFill>
                  <a:srgbClr val="A3ACBB"/>
                </a:solidFill>
                <a:latin typeface="Inter Medium"/>
              </a:rPr>
              <a:t>Caption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7400" y="62611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500">
                <a:solidFill>
                  <a:srgbClr val="A3ACBB"/>
                </a:solidFill>
                <a:latin typeface="Inter"/>
              </a:rPr>
              <a:t>posit::conf(2026) · @schloerke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8000"/>
              </a:lnSpc>
              <a:buNone/>
            </a:pPr>
            <a:r>
              <a:rPr sz="6400">
                <a:solidFill>
                  <a:srgbClr val="F2F4F8"/>
                </a:solidFill>
                <a:latin typeface="Inter ExtraBold"/>
              </a:rPr>
              <a:t>React UI,
Shiny brain.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35000"/>
              </a:lnSpc>
              <a:buNone/>
            </a:pPr>
            <a:r>
              <a:rPr sz="2300">
                <a:solidFill>
                  <a:srgbClr val="A3ACBB"/>
                </a:solidFill>
                <a:latin typeface="Inter"/>
              </a:rPr>
              <a:t>Building Shiny apps whose entire interface lives in ui.tsx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2000">
                <a:solidFill>
                  <a:srgbClr val="00D8FF">
                    <a:alpha val="22000"/>
                  </a:srgbClr>
                </a:solidFill>
                <a:latin typeface="Inter Black"/>
              </a:rP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4800">
                <a:solidFill>
                  <a:srgbClr val="F2F4F8"/>
                </a:solidFill>
                <a:latin typeface="Inter ExtraBold"/>
              </a:rPr>
              <a:t>The hook family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4200">
                <a:solidFill>
                  <a:srgbClr val="F2F4F8"/>
                </a:solidFill>
                <a:latin typeface="Inter ExtraBold"/>
              </a:rPr>
              <a:t>Pick the narrowest hook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330200" indent="-330200">
              <a:lnSpc>
                <a:spcPct val="130000"/>
              </a:lnSpc>
              <a:spcAft>
                <a:spcPts val="2200"/>
              </a:spcAft>
              <a:buClr>
                <a:srgbClr val="00D8FF"/>
              </a:buClr>
              <a:buSzPct val="115000"/>
              <a:buFont typeface="Arial"/>
              <a:buChar char="▍"/>
            </a:pPr>
            <a:r>
              <a:rPr sz="2600">
                <a:solidFill>
                  <a:srgbClr val="F2F4F8"/>
                </a:solidFill>
                <a:latin typeface="Inter Medium"/>
              </a:rPr>
              <a:t>A button that only pushes events uses </a:t>
            </a:r>
            <a:r>
              <a:rPr sz="2600">
                <a:solidFill>
                  <a:srgbClr val="6FD4E8"/>
                </a:solidFill>
                <a:latin typeface="Inter Bold"/>
              </a:rPr>
              <a:t>useSetShinyInput</a:t>
            </a:r>
          </a:p>
          <a:p>
            <a:pPr algn="l" marL="330200" indent="-330200">
              <a:lnSpc>
                <a:spcPct val="130000"/>
              </a:lnSpc>
              <a:spcAft>
                <a:spcPts val="2200"/>
              </a:spcAft>
              <a:buClr>
                <a:srgbClr val="00D8FF"/>
              </a:buClr>
              <a:buSzPct val="115000"/>
              <a:buFont typeface="Arial"/>
              <a:buChar char="▍"/>
            </a:pPr>
            <a:r>
              <a:rPr sz="2600">
                <a:solidFill>
                  <a:srgbClr val="F2F4F8"/>
                </a:solidFill>
                <a:latin typeface="Inter Medium"/>
              </a:rPr>
              <a:t>A card that only reads uses </a:t>
            </a:r>
            <a:r>
              <a:rPr sz="2600">
                <a:solidFill>
                  <a:srgbClr val="6FD4E8"/>
                </a:solidFill>
                <a:latin typeface="Inter Bold"/>
              </a:rPr>
              <a:t>useShinyOutputValue</a:t>
            </a:r>
          </a:p>
          <a:p>
            <a:pPr algn="l" marL="330200" indent="-330200">
              <a:lnSpc>
                <a:spcPct val="130000"/>
              </a:lnSpc>
              <a:spcAft>
                <a:spcPts val="2200"/>
              </a:spcAft>
              <a:buClr>
                <a:srgbClr val="00D8FF"/>
              </a:buClr>
              <a:buSzPct val="115000"/>
              <a:buFont typeface="Arial"/>
              <a:buChar char="▍"/>
            </a:pPr>
            <a:r>
              <a:rPr sz="2600">
                <a:solidFill>
                  <a:srgbClr val="F2F4F8"/>
                </a:solidFill>
                <a:latin typeface="Inter Medium"/>
              </a:rPr>
              <a:t>Narrow hooks make data-flow direction </a:t>
            </a:r>
            <a:r>
              <a:rPr sz="2600">
                <a:solidFill>
                  <a:srgbClr val="6FD4E8"/>
                </a:solidFill>
                <a:latin typeface="Inter Bold"/>
              </a:rPr>
              <a:t>visible at the call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800">
                <a:solidFill>
                  <a:srgbClr val="F2F4F8"/>
                </a:solidFill>
                <a:latin typeface="Inter ExtraBold"/>
              </a:rPr>
              <a:t>Two files, one app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400" spc="200">
                <a:solidFill>
                  <a:srgbClr val="6FD4E8"/>
                </a:solidFill>
                <a:latin typeface="Inter Bold"/>
              </a:rPr>
              <a:t>UI.TSX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C7A0FF"/>
                </a:solidFill>
                <a:latin typeface="Source Code Pro"/>
              </a:rPr>
              <a:t>const</a:t>
            </a:r>
            <a:r>
              <a:rPr sz="1700">
                <a:solidFill>
                  <a:srgbClr val="F2F4F8"/>
                </a:solidFill>
                <a:latin typeface="Source Code Pro"/>
              </a:rPr>
              <a:t> [n, setN] = </a:t>
            </a:r>
            <a:r>
              <a:rPr sz="1700">
                <a:solidFill>
                  <a:srgbClr val="6FD4E8"/>
                </a:solidFill>
                <a:latin typeface="Source Code Pro"/>
              </a:rPr>
              <a:t>useShinyInput</a:t>
            </a:r>
            <a:r>
              <a:rPr sz="1700">
                <a:solidFill>
                  <a:srgbClr val="F2F4F8"/>
                </a:solidFill>
                <a:latin typeface="Source Code Pro"/>
              </a:rPr>
              <a:t>(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F2F4F8"/>
                </a:solidFill>
                <a:latin typeface="Source Code Pro"/>
              </a:rPr>
              <a:t>  </a:t>
            </a:r>
            <a:r>
              <a:rPr sz="1700">
                <a:solidFill>
                  <a:srgbClr val="9FE88D"/>
                </a:solidFill>
                <a:latin typeface="Source Code Pro"/>
              </a:rPr>
              <a:t>"bins"</a:t>
            </a:r>
            <a:r>
              <a:rPr sz="1700">
                <a:solidFill>
                  <a:srgbClr val="F2F4F8"/>
                </a:solidFill>
                <a:latin typeface="Source Code Pro"/>
              </a:rPr>
              <a:t>, </a:t>
            </a:r>
            <a:r>
              <a:rPr sz="1700">
                <a:solidFill>
                  <a:srgbClr val="FFB86C"/>
                </a:solidFill>
                <a:latin typeface="Source Code Pro"/>
              </a:rPr>
              <a:t>30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F2F4F8"/>
                </a:solidFill>
                <a:latin typeface="Source Code Pro"/>
              </a:rPr>
              <a:t>);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C7A0FF"/>
                </a:solidFill>
                <a:latin typeface="Source Code Pro"/>
              </a:rPr>
              <a:t>const</a:t>
            </a:r>
            <a:r>
              <a:rPr sz="1700">
                <a:solidFill>
                  <a:srgbClr val="F2F4F8"/>
                </a:solidFill>
                <a:latin typeface="Source Code Pro"/>
              </a:rPr>
              <a:t> plot = </a:t>
            </a:r>
            <a:r>
              <a:rPr sz="1700">
                <a:solidFill>
                  <a:srgbClr val="6FD4E8"/>
                </a:solidFill>
                <a:latin typeface="Source Code Pro"/>
              </a:rPr>
              <a:t>useShinyOutputValue</a:t>
            </a:r>
            <a:r>
              <a:rPr sz="1700">
                <a:solidFill>
                  <a:srgbClr val="F2F4F8"/>
                </a:solidFill>
                <a:latin typeface="Source Code Pro"/>
              </a:rPr>
              <a:t>(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F2F4F8"/>
                </a:solidFill>
                <a:latin typeface="Source Code Pro"/>
              </a:rPr>
              <a:t>  </a:t>
            </a:r>
            <a:r>
              <a:rPr sz="1700">
                <a:solidFill>
                  <a:srgbClr val="9FE88D"/>
                </a:solidFill>
                <a:latin typeface="Source Code Pro"/>
              </a:rPr>
              <a:t>"hist"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F2F4F8"/>
                </a:solidFill>
                <a:latin typeface="Source Code Pro"/>
              </a:rPr>
              <a:t>);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F2F4F8"/>
                </a:solidFill>
                <a:latin typeface="Source Code Pro"/>
              </a:rPr>
              <a:t> 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C7A0FF"/>
                </a:solidFill>
                <a:latin typeface="Source Code Pro"/>
              </a:rPr>
              <a:t>return</a:t>
            </a:r>
            <a:r>
              <a:rPr sz="1700">
                <a:solidFill>
                  <a:srgbClr val="F2F4F8"/>
                </a:solidFill>
                <a:latin typeface="Source Code Pro"/>
              </a:rPr>
              <a:t> &lt;</a:t>
            </a:r>
            <a:r>
              <a:rPr sz="1700">
                <a:solidFill>
                  <a:srgbClr val="6FD4E8"/>
                </a:solidFill>
                <a:latin typeface="Source Code Pro"/>
              </a:rPr>
              <a:t>Slider</a:t>
            </a:r>
            <a:r>
              <a:rPr sz="1700">
                <a:solidFill>
                  <a:srgbClr val="F2F4F8"/>
                </a:solidFill>
                <a:latin typeface="Source Code Pro"/>
              </a:rPr>
              <a:t> value={n}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F2F4F8"/>
                </a:solidFill>
                <a:latin typeface="Source Code Pro"/>
              </a:rPr>
              <a:t>  onChange={setN} /&gt;;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400" spc="200">
                <a:solidFill>
                  <a:srgbClr val="6FD4E8"/>
                </a:solidFill>
                <a:latin typeface="Inter Bold"/>
              </a:rPr>
              <a:t>APP.PY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9AA3B2"/>
                </a:solidFill>
                <a:latin typeface="Source Code Pro"/>
              </a:rPr>
              <a:t># reactive computation only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6FD4E8"/>
                </a:solidFill>
                <a:latin typeface="Source Code Pro"/>
              </a:rPr>
              <a:t>@shinyreact.reactive_output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C7A0FF"/>
                </a:solidFill>
                <a:latin typeface="Source Code Pro"/>
              </a:rPr>
              <a:t>def</a:t>
            </a:r>
            <a:r>
              <a:rPr sz="1700">
                <a:solidFill>
                  <a:srgbClr val="F2F4F8"/>
                </a:solidFill>
                <a:latin typeface="Source Code Pro"/>
              </a:rPr>
              <a:t> </a:t>
            </a:r>
            <a:r>
              <a:rPr sz="1700">
                <a:solidFill>
                  <a:srgbClr val="6FD4E8"/>
                </a:solidFill>
                <a:latin typeface="Source Code Pro"/>
              </a:rPr>
              <a:t>hist</a:t>
            </a:r>
            <a:r>
              <a:rPr sz="1700">
                <a:solidFill>
                  <a:srgbClr val="F2F4F8"/>
                </a:solidFill>
                <a:latin typeface="Source Code Pro"/>
              </a:rPr>
              <a:t>():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F2F4F8"/>
                </a:solidFill>
                <a:latin typeface="Source Code Pro"/>
              </a:rPr>
              <a:t>    </a:t>
            </a:r>
            <a:r>
              <a:rPr sz="1700">
                <a:solidFill>
                  <a:srgbClr val="C7A0FF"/>
                </a:solidFill>
                <a:latin typeface="Source Code Pro"/>
              </a:rPr>
              <a:t>return</a:t>
            </a:r>
            <a:r>
              <a:rPr sz="1700">
                <a:solidFill>
                  <a:srgbClr val="F2F4F8"/>
                </a:solidFill>
                <a:latin typeface="Source Code Pro"/>
              </a:rPr>
              <a:t> histogram(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F2F4F8"/>
                </a:solidFill>
                <a:latin typeface="Source Code Pro"/>
              </a:rPr>
              <a:t>        data, bins=input.bins()</a:t>
            </a:r>
          </a:p>
          <a:p>
            <a:pPr marL="0" indent="0">
              <a:lnSpc>
                <a:spcPct val="135000"/>
              </a:lnSpc>
              <a:buNone/>
            </a:pPr>
            <a:r>
              <a:rPr sz="1700">
                <a:solidFill>
                  <a:srgbClr val="F2F4F8"/>
                </a:solidFill>
                <a:latin typeface="Source Code Pro"/>
              </a:rPr>
              <a:t>    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3800">
                <a:solidFill>
                  <a:srgbClr val="F2F4F8"/>
                </a:solidFill>
                <a:latin typeface="Inter ExtraBold"/>
              </a:rPr>
              <a:t>Bundle size by dependency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sz="1500">
                <a:solidFill>
                  <a:srgbClr val="A3ACBB"/>
                </a:solidFill>
                <a:latin typeface="Inter Medium"/>
              </a:rPr>
              <a:t>Gzipped, production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06600"/>
            <a:ext cx="3556000" cy="95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600">
                <a:solidFill>
                  <a:srgbClr val="6FD4E8"/>
                </a:solidFill>
                <a:latin typeface="Inter ExtraBold"/>
              </a:rPr>
              <a:t>41 kB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984500"/>
            <a:ext cx="3556000" cy="292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spc="60">
                <a:solidFill>
                  <a:srgbClr val="A3ACBB"/>
                </a:solidFill>
                <a:latin typeface="Inter Medium"/>
              </a:rPr>
              <a:t>GZIPPED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46600" y="2006600"/>
            <a:ext cx="3556000" cy="95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600">
                <a:solidFill>
                  <a:srgbClr val="6FD4E8"/>
                </a:solidFill>
                <a:latin typeface="Inter ExtraBold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6600" y="2984500"/>
            <a:ext cx="3556000" cy="292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spc="60">
                <a:solidFill>
                  <a:srgbClr val="A3ACBB"/>
                </a:solidFill>
                <a:latin typeface="Inter Medium"/>
              </a:rPr>
              <a:t>UI COMPONENTS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3600" y="2006600"/>
            <a:ext cx="3556000" cy="95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600">
                <a:solidFill>
                  <a:srgbClr val="6FD4E8"/>
                </a:solidFill>
                <a:latin typeface="Inter Extra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3600" y="2984500"/>
            <a:ext cx="3556000" cy="292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spc="60">
                <a:solidFill>
                  <a:srgbClr val="A3ACBB"/>
                </a:solidFill>
                <a:latin typeface="Inter Medium"/>
              </a:rPr>
              <a:t>LANGUAGES SUPPORTED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4100" y="3556000"/>
            <a:ext cx="12700" cy="2540000"/>
          </a:xfrm>
          <a:prstGeom prst="rect">
            <a:avLst/>
          </a:prstGeom>
          <a:solidFill>
            <a:srgbClr val="A3ACBB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36576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500">
                <a:solidFill>
                  <a:srgbClr val="A3ACBB"/>
                </a:solidFill>
                <a:latin typeface="Inter Medium"/>
              </a:rPr>
              <a:t>react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0300" y="3619500"/>
            <a:ext cx="5588000" cy="292100"/>
          </a:xfrm>
          <a:prstGeom prst="roundRect">
            <a:avLst>
              <a:gd name="adj" fmla="val 9000"/>
            </a:avLst>
          </a:prstGeom>
          <a:solidFill>
            <a:srgbClr val="0E9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8800" y="36576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>
                <a:solidFill>
                  <a:srgbClr val="F2F4F8"/>
                </a:solidFill>
                <a:latin typeface="Source Code Pro"/>
              </a:rPr>
              <a:t>22.4 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41529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500">
                <a:solidFill>
                  <a:srgbClr val="A3ACBB"/>
                </a:solidFill>
                <a:latin typeface="Inter Medium"/>
              </a:rPr>
              <a:t>react-dom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0300" y="4114800"/>
            <a:ext cx="3429000" cy="292100"/>
          </a:xfrm>
          <a:prstGeom prst="roundRect">
            <a:avLst>
              <a:gd name="adj" fmla="val 9000"/>
            </a:avLst>
          </a:prstGeom>
          <a:solidFill>
            <a:srgbClr val="E2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9800" y="41529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>
                <a:solidFill>
                  <a:srgbClr val="F2F4F8"/>
                </a:solidFill>
                <a:latin typeface="Source Code Pro"/>
              </a:rPr>
              <a:t>13.7 kB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00" y="46482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500">
                <a:solidFill>
                  <a:srgbClr val="A3ACBB"/>
                </a:solidFill>
                <a:latin typeface="Inter Medium"/>
              </a:rPr>
              <a:t>shiny-react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0300" y="4610100"/>
            <a:ext cx="1244600" cy="292100"/>
          </a:xfrm>
          <a:prstGeom prst="roundRect">
            <a:avLst>
              <a:gd name="adj" fmla="val 9000"/>
            </a:avLst>
          </a:prstGeom>
          <a:solidFill>
            <a:srgbClr val="3D8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5400" y="46482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>
                <a:solidFill>
                  <a:srgbClr val="F2F4F8"/>
                </a:solidFill>
                <a:latin typeface="Source Code Pro"/>
              </a:rPr>
              <a:t>4.9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00" y="51435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500">
                <a:solidFill>
                  <a:srgbClr val="A3ACBB"/>
                </a:solidFill>
                <a:latin typeface="Inter Medium"/>
              </a:rPr>
              <a:t>css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0300" y="5105400"/>
            <a:ext cx="406400" cy="292100"/>
          </a:xfrm>
          <a:prstGeom prst="roundRect">
            <a:avLst>
              <a:gd name="adj" fmla="val 9000"/>
            </a:avLst>
          </a:prstGeom>
          <a:solidFill>
            <a:srgbClr val="74A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7200" y="51435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>
                <a:solidFill>
                  <a:srgbClr val="F2F4F8"/>
                </a:solidFill>
                <a:latin typeface="Source Code Pro"/>
              </a:rPr>
              <a:t>1.6 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600" y="56388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500">
                <a:solidFill>
                  <a:srgbClr val="A3ACBB"/>
                </a:solidFill>
                <a:latin typeface="Inter Medium"/>
              </a:rPr>
              <a:t>glue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70300" y="5600700"/>
            <a:ext cx="190500" cy="292100"/>
          </a:xfrm>
          <a:prstGeom prst="roundRect">
            <a:avLst>
              <a:gd name="adj" fmla="val 9000"/>
            </a:avLst>
          </a:prstGeom>
          <a:solidFill>
            <a:srgbClr val="C74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51300" y="56388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>
                <a:solidFill>
                  <a:srgbClr val="F2F4F8"/>
                </a:solidFill>
                <a:latin typeface="Source Code Pro"/>
              </a:rPr>
              <a:t>0.8 kB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